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1226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ublic/assets/gl_baja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" y="45720"/>
            <a:ext cx="1965960" cy="640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731520"/>
            <a:ext cx="12188952" cy="22860"/>
          </a:xfrm>
          <a:prstGeom prst="rect">
            <a:avLst/>
          </a:prstGeom>
          <a:solidFill>
            <a:srgbClr val="42719B"/>
          </a:solidFill>
          <a:ln w="12700">
            <a:solidFill>
              <a:srgbClr val="42719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754380"/>
            <a:ext cx="2112264" cy="610362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pic>
        <p:nvPicPr>
          <p:cNvPr id="6" name="Image 1" descr="public/assets/gl_bajaj_emblem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09728"/>
            <a:ext cx="2240280" cy="19933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240280" y="2176272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Department of Computer Science &amp; Engineering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2112264" y="2651760"/>
            <a:ext cx="10076688" cy="960120"/>
          </a:xfrm>
          <a:prstGeom prst="rect">
            <a:avLst/>
          </a:prstGeom>
          <a:solidFill>
            <a:srgbClr val="833C0B"/>
          </a:solidFill>
          <a:ln w="12700">
            <a:solidFill>
              <a:srgbClr val="833C0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112264" y="3611880"/>
            <a:ext cx="10076688" cy="22860"/>
          </a:xfrm>
          <a:prstGeom prst="rect">
            <a:avLst/>
          </a:prstGeom>
          <a:solidFill>
            <a:srgbClr val="42719B"/>
          </a:solidFill>
          <a:ln w="12700">
            <a:solidFill>
              <a:srgbClr val="42719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240280" y="2670048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 BUDGET &amp; EXPENSE SPLITTER (SMARTSPLIT)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2240280" y="374904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 |  SESSION 2026-2027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2423160" y="425196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: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NO. 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No. 7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NAME(S) 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Pratibha Singh, Pratiksha Singh,
Priyansh Kalra, Priyam Tripathi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NO(S) 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2501920100419, 2501920100422,
2501920100438, 2501920100437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&amp; SECTION 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(2nd Year)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Year (B.Tech)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498080" y="4251960"/>
            <a:ext cx="4480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SUPERVISION OF :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 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Abhijeet Gupta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DESIGNATION 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Engineering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Bajaj Institute of Technology &amp; Management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AFFILIATION 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A.P.J. Abdul Kalam Technical University (AKTU)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240280" y="6355080"/>
            <a:ext cx="9784080" cy="13716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1247120" y="641908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&lt;1&gt;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1226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ublic/assets/gl_baja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" y="45720"/>
            <a:ext cx="1965960" cy="640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112264" y="0"/>
            <a:ext cx="10076688" cy="731520"/>
          </a:xfrm>
          <a:prstGeom prst="rect">
            <a:avLst/>
          </a:prstGeom>
          <a:solidFill>
            <a:srgbClr val="833C0B"/>
          </a:solidFill>
          <a:ln w="12700">
            <a:solidFill>
              <a:srgbClr val="833C0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240280" y="4572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OUTLINE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731520"/>
            <a:ext cx="12188952" cy="22860"/>
          </a:xfrm>
          <a:prstGeom prst="rect">
            <a:avLst/>
          </a:prstGeom>
          <a:solidFill>
            <a:srgbClr val="42719B"/>
          </a:solidFill>
          <a:ln w="12700">
            <a:solidFill>
              <a:srgbClr val="42719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754380"/>
            <a:ext cx="2112264" cy="610362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40280" y="6355080"/>
            <a:ext cx="9784080" cy="13716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40280" y="6419088"/>
            <a:ext cx="8961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Department of Computer Science &amp; Engineering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247120" y="641908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&lt;2&gt;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23160" y="1051560"/>
            <a:ext cx="4617720" cy="713232"/>
          </a:xfrm>
          <a:prstGeom prst="roundRect">
            <a:avLst>
              <a:gd name="adj" fmla="val 19231"/>
            </a:avLst>
          </a:prstGeom>
          <a:solidFill>
            <a:srgbClr val="FBE4D4"/>
          </a:solidFill>
          <a:ln w="12700">
            <a:solidFill>
              <a:srgbClr val="F3CCA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60320" y="1179576"/>
            <a:ext cx="457200" cy="45720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60320" y="1179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108960" y="1161288"/>
            <a:ext cx="3840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423160" y="1892808"/>
            <a:ext cx="4617720" cy="713232"/>
          </a:xfrm>
          <a:prstGeom prst="roundRect">
            <a:avLst>
              <a:gd name="adj" fmla="val 19231"/>
            </a:avLst>
          </a:prstGeom>
          <a:solidFill>
            <a:srgbClr val="FBE4D4"/>
          </a:solidFill>
          <a:ln w="12700">
            <a:solidFill>
              <a:srgbClr val="F3CCA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560320" y="2020824"/>
            <a:ext cx="457200" cy="45720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560320" y="2020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108960" y="2002536"/>
            <a:ext cx="3840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Scope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2423160" y="2734056"/>
            <a:ext cx="4617720" cy="713232"/>
          </a:xfrm>
          <a:prstGeom prst="roundRect">
            <a:avLst>
              <a:gd name="adj" fmla="val 19231"/>
            </a:avLst>
          </a:prstGeom>
          <a:solidFill>
            <a:srgbClr val="FBE4D4"/>
          </a:solidFill>
          <a:ln w="12700">
            <a:solidFill>
              <a:srgbClr val="F3CCA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560320" y="2862072"/>
            <a:ext cx="457200" cy="45720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560320" y="2862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108960" y="2843784"/>
            <a:ext cx="3840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System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2423160" y="3575304"/>
            <a:ext cx="4617720" cy="713232"/>
          </a:xfrm>
          <a:prstGeom prst="roundRect">
            <a:avLst>
              <a:gd name="adj" fmla="val 19231"/>
            </a:avLst>
          </a:prstGeom>
          <a:solidFill>
            <a:srgbClr val="FBE4D4"/>
          </a:solidFill>
          <a:ln w="12700">
            <a:solidFill>
              <a:srgbClr val="F3CCA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560320" y="3703320"/>
            <a:ext cx="457200" cy="45720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108960" y="3685032"/>
            <a:ext cx="3840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2423160" y="4416552"/>
            <a:ext cx="4617720" cy="713232"/>
          </a:xfrm>
          <a:prstGeom prst="roundRect">
            <a:avLst>
              <a:gd name="adj" fmla="val 19231"/>
            </a:avLst>
          </a:prstGeom>
          <a:solidFill>
            <a:srgbClr val="FBE4D4"/>
          </a:solidFill>
          <a:ln w="12700">
            <a:solidFill>
              <a:srgbClr val="F3CCA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560320" y="4544568"/>
            <a:ext cx="457200" cy="45720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560320" y="4544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108960" y="4526280"/>
            <a:ext cx="3840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Requirements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2423160" y="5257800"/>
            <a:ext cx="4617720" cy="713232"/>
          </a:xfrm>
          <a:prstGeom prst="roundRect">
            <a:avLst>
              <a:gd name="adj" fmla="val 19231"/>
            </a:avLst>
          </a:prstGeom>
          <a:solidFill>
            <a:srgbClr val="FBE4D4"/>
          </a:solidFill>
          <a:ln w="12700">
            <a:solidFill>
              <a:srgbClr val="F3CCA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560320" y="5385816"/>
            <a:ext cx="457200" cy="45720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560320" y="5385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3108960" y="5367528"/>
            <a:ext cx="3840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Architecture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7269480" y="1051560"/>
            <a:ext cx="4617720" cy="713232"/>
          </a:xfrm>
          <a:prstGeom prst="roundRect">
            <a:avLst>
              <a:gd name="adj" fmla="val 19231"/>
            </a:avLst>
          </a:prstGeom>
          <a:solidFill>
            <a:srgbClr val="FBE4D4"/>
          </a:solidFill>
          <a:ln w="12700">
            <a:solidFill>
              <a:srgbClr val="F3CCA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406640" y="1179576"/>
            <a:ext cx="457200" cy="45720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406640" y="1179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7955280" y="1161288"/>
            <a:ext cx="3840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7269480" y="1892808"/>
            <a:ext cx="4617720" cy="713232"/>
          </a:xfrm>
          <a:prstGeom prst="roundRect">
            <a:avLst>
              <a:gd name="adj" fmla="val 19231"/>
            </a:avLst>
          </a:prstGeom>
          <a:solidFill>
            <a:srgbClr val="FBE4D4"/>
          </a:solidFill>
          <a:ln w="12700">
            <a:solidFill>
              <a:srgbClr val="F3CCA8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406640" y="2020824"/>
            <a:ext cx="457200" cy="45720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406640" y="2020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7955280" y="2002536"/>
            <a:ext cx="3840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&amp; Features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7269480" y="2734056"/>
            <a:ext cx="4617720" cy="713232"/>
          </a:xfrm>
          <a:prstGeom prst="roundRect">
            <a:avLst>
              <a:gd name="adj" fmla="val 19231"/>
            </a:avLst>
          </a:prstGeom>
          <a:solidFill>
            <a:srgbClr val="FBE4D4"/>
          </a:solidFill>
          <a:ln w="12700">
            <a:solidFill>
              <a:srgbClr val="F3CCA8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406640" y="2862072"/>
            <a:ext cx="457200" cy="45720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406640" y="2862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7955280" y="2843784"/>
            <a:ext cx="3840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Settlement Algorithm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7269480" y="3575304"/>
            <a:ext cx="4617720" cy="713232"/>
          </a:xfrm>
          <a:prstGeom prst="roundRect">
            <a:avLst>
              <a:gd name="adj" fmla="val 19231"/>
            </a:avLst>
          </a:prstGeom>
          <a:solidFill>
            <a:srgbClr val="FBE4D4"/>
          </a:solidFill>
          <a:ln w="12700">
            <a:solidFill>
              <a:srgbClr val="F3CCA8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7406640" y="3703320"/>
            <a:ext cx="457200" cy="45720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40664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7955280" y="3685032"/>
            <a:ext cx="3840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Results</a:t>
            </a:r>
            <a:endParaRPr lang="en-US" sz="1400" dirty="0"/>
          </a:p>
        </p:txBody>
      </p:sp>
      <p:sp>
        <p:nvSpPr>
          <p:cNvPr id="51" name="Shape 48"/>
          <p:cNvSpPr/>
          <p:nvPr/>
        </p:nvSpPr>
        <p:spPr>
          <a:xfrm>
            <a:off x="7269480" y="4416552"/>
            <a:ext cx="4617720" cy="713232"/>
          </a:xfrm>
          <a:prstGeom prst="roundRect">
            <a:avLst>
              <a:gd name="adj" fmla="val 19231"/>
            </a:avLst>
          </a:prstGeom>
          <a:solidFill>
            <a:srgbClr val="FBE4D4"/>
          </a:solidFill>
          <a:ln w="12700">
            <a:solidFill>
              <a:srgbClr val="F3CCA8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406640" y="4544568"/>
            <a:ext cx="457200" cy="45720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406640" y="4544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7955280" y="4526280"/>
            <a:ext cx="3840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1400" dirty="0"/>
          </a:p>
        </p:txBody>
      </p:sp>
      <p:sp>
        <p:nvSpPr>
          <p:cNvPr id="55" name="Shape 52"/>
          <p:cNvSpPr/>
          <p:nvPr/>
        </p:nvSpPr>
        <p:spPr>
          <a:xfrm>
            <a:off x="7269480" y="5257800"/>
            <a:ext cx="4617720" cy="713232"/>
          </a:xfrm>
          <a:prstGeom prst="roundRect">
            <a:avLst>
              <a:gd name="adj" fmla="val 19231"/>
            </a:avLst>
          </a:prstGeom>
          <a:solidFill>
            <a:srgbClr val="FBE4D4"/>
          </a:solidFill>
          <a:ln w="12700">
            <a:solidFill>
              <a:srgbClr val="F3CCA8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406640" y="5385816"/>
            <a:ext cx="457200" cy="45720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7406640" y="5385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7955280" y="5367528"/>
            <a:ext cx="3840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References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1226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ublic/assets/gl_baja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" y="45720"/>
            <a:ext cx="1965960" cy="640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112264" y="0"/>
            <a:ext cx="10076688" cy="731520"/>
          </a:xfrm>
          <a:prstGeom prst="rect">
            <a:avLst/>
          </a:prstGeom>
          <a:solidFill>
            <a:srgbClr val="833C0B"/>
          </a:solidFill>
          <a:ln w="12700">
            <a:solidFill>
              <a:srgbClr val="833C0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240280" y="4572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731520"/>
            <a:ext cx="12188952" cy="22860"/>
          </a:xfrm>
          <a:prstGeom prst="rect">
            <a:avLst/>
          </a:prstGeom>
          <a:solidFill>
            <a:srgbClr val="42719B"/>
          </a:solidFill>
          <a:ln w="12700">
            <a:solidFill>
              <a:srgbClr val="42719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754380"/>
            <a:ext cx="2112264" cy="610362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40280" y="6355080"/>
            <a:ext cx="9784080" cy="13716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40280" y="6419088"/>
            <a:ext cx="8961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Department of Computer Science &amp; Engineering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247120" y="641908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&lt;3&gt;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23160" y="1143000"/>
            <a:ext cx="3035808" cy="4937760"/>
          </a:xfrm>
          <a:prstGeom prst="roundRect">
            <a:avLst>
              <a:gd name="adj" fmla="val 4518"/>
            </a:avLst>
          </a:prstGeom>
          <a:solidFill>
            <a:srgbClr val="FBE4D4"/>
          </a:solidFill>
          <a:ln w="12700">
            <a:solidFill>
              <a:srgbClr val="F3CCA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606040" y="1344168"/>
            <a:ext cx="411480" cy="41148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06040" y="13441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108960" y="1307592"/>
            <a:ext cx="22128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33C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 &amp; Background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651760" y="1920240"/>
            <a:ext cx="2578608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Technology (FinTech) &amp; Web Application Engineering.
</a:t>
            </a:r>
            <a:endParaRPr lang="en-US" sz="115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students, roommates, and travel groups frequently engage in shared financial transactions (rent, groceries, meals, trips).
</a:t>
            </a:r>
            <a:endParaRPr lang="en-US" sz="115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tracking leads to forgotten debts, miscalculations, and awkward manual confrontations among peers.
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641848" y="1143000"/>
            <a:ext cx="3035808" cy="4937760"/>
          </a:xfrm>
          <a:prstGeom prst="roundRect">
            <a:avLst>
              <a:gd name="adj" fmla="val 4518"/>
            </a:avLst>
          </a:prstGeom>
          <a:solidFill>
            <a:srgbClr val="FBE4D4"/>
          </a:solidFill>
          <a:ln w="12700">
            <a:solidFill>
              <a:srgbClr val="F3CCA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824728" y="1344168"/>
            <a:ext cx="411480" cy="41148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24728" y="13441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327648" y="1307592"/>
            <a:ext cx="22128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33C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870448" y="1920240"/>
            <a:ext cx="2578608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calculation via paper or chat apps is tedious, error-prone, and lacks real-time consensus.
</a:t>
            </a:r>
            <a:endParaRPr lang="en-US" sz="115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debt cycles cause unnecessary multiple transactions (e.g., A owes B, B owes C, C owes A).
</a:t>
            </a:r>
            <a:endParaRPr lang="en-US" sz="115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apps often lock essential settlement features behind subscription paywalls or flood users with advertisements.
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860536" y="1143000"/>
            <a:ext cx="3035808" cy="4937760"/>
          </a:xfrm>
          <a:prstGeom prst="roundRect">
            <a:avLst>
              <a:gd name="adj" fmla="val 4518"/>
            </a:avLst>
          </a:prstGeom>
          <a:solidFill>
            <a:srgbClr val="FBE4D4"/>
          </a:solidFill>
          <a:ln w="12700">
            <a:solidFill>
              <a:srgbClr val="F3CCA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043416" y="1344168"/>
            <a:ext cx="411480" cy="41148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043416" y="13441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546336" y="1307592"/>
            <a:ext cx="22128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33C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Motivation &amp; Significance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9089136" y="1920240"/>
            <a:ext cx="2578608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intuitive, zero-cost, transparent expense management system designed specifically for collegiate communities.
</a:t>
            </a:r>
            <a:endParaRPr lang="en-US" sz="115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debt simplification using graph-based greedy algorithms to minimize transaction count.
</a:t>
            </a:r>
            <a:endParaRPr lang="en-US" sz="115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immediate settlement reconciliation via direct UPI QR codes and synchronized Firestore data.
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1226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ublic/assets/gl_baja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" y="45720"/>
            <a:ext cx="1965960" cy="640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112264" y="0"/>
            <a:ext cx="10076688" cy="731520"/>
          </a:xfrm>
          <a:prstGeom prst="rect">
            <a:avLst/>
          </a:prstGeom>
          <a:solidFill>
            <a:srgbClr val="833C0B"/>
          </a:solidFill>
          <a:ln w="12700">
            <a:solidFill>
              <a:srgbClr val="833C0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240280" y="4572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 &amp; SCOPE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731520"/>
            <a:ext cx="12188952" cy="22860"/>
          </a:xfrm>
          <a:prstGeom prst="rect">
            <a:avLst/>
          </a:prstGeom>
          <a:solidFill>
            <a:srgbClr val="42719B"/>
          </a:solidFill>
          <a:ln w="12700">
            <a:solidFill>
              <a:srgbClr val="42719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754380"/>
            <a:ext cx="2112264" cy="610362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40280" y="6355080"/>
            <a:ext cx="9784080" cy="13716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40280" y="6419088"/>
            <a:ext cx="8961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Department of Computer Science &amp; Engineering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247120" y="641908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&lt;4&gt;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23160" y="1143000"/>
            <a:ext cx="4709160" cy="4937760"/>
          </a:xfrm>
          <a:prstGeom prst="roundRect">
            <a:avLst>
              <a:gd name="adj" fmla="val 2913"/>
            </a:avLst>
          </a:prstGeom>
          <a:solidFill>
            <a:srgbClr val="FBE4D4"/>
          </a:solidFill>
          <a:ln w="12700">
            <a:solidFill>
              <a:srgbClr val="F3CCA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651760" y="132588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33C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Objectives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651760" y="1874520"/>
            <a:ext cx="425196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●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&amp; Engineer a responsive, high-performance web application for shared expense splitting.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●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Implement Multi-Method Splits supporting Equal, Exact Amounts, Percentage, and Custom Shares.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●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Formulate a Greedy Debt Simplification Algorithm reducing n-party transactions down to at most n - 1 payments.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●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Integrate UPI Payment Deep-Links enabling instant peer-to-peer settlement verification.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●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Ensure Secure Persistence with Firebase Firestore authentication and client-side encryption.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360920" y="1143000"/>
            <a:ext cx="4572000" cy="4937760"/>
          </a:xfrm>
          <a:prstGeom prst="roundRect">
            <a:avLst>
              <a:gd name="adj" fmla="val 3000"/>
            </a:avLst>
          </a:prstGeom>
          <a:solidFill>
            <a:srgbClr val="FBE4D4"/>
          </a:solidFill>
          <a:ln w="12700">
            <a:solidFill>
              <a:srgbClr val="F3CCA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89520" y="13258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33C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Scope Boundaries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589520" y="1874520"/>
            <a:ext cx="41148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in Version 1.0 (Included):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Complete Group Lifecycle (Create, Invite, Manage, Categorize)
• Multi-currency support (INR ₹, USD $, EUR €, GBP £)
• Real-time Group Chat &amp; Activity Audit Trail
• Dynamic Analytics Charts (Monthly spend trends, Category breakdown)
• In-browser Demo Sandbox + Cloud Synced modes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&amp; Limitations (Version 2.0):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OCR Bill/Receipt Scanning via Vision API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Direct Banking NPCI Webhook Reconciliation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Native Android APK / iOS packaging via Capacitor PWA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1226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ublic/assets/gl_baja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" y="45720"/>
            <a:ext cx="1965960" cy="640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112264" y="0"/>
            <a:ext cx="10076688" cy="731520"/>
          </a:xfrm>
          <a:prstGeom prst="rect">
            <a:avLst/>
          </a:prstGeom>
          <a:solidFill>
            <a:srgbClr val="833C0B"/>
          </a:solidFill>
          <a:ln w="12700">
            <a:solidFill>
              <a:srgbClr val="833C0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240280" y="4572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VS PROPOSED SYSTEM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731520"/>
            <a:ext cx="12188952" cy="22860"/>
          </a:xfrm>
          <a:prstGeom prst="rect">
            <a:avLst/>
          </a:prstGeom>
          <a:solidFill>
            <a:srgbClr val="42719B"/>
          </a:solidFill>
          <a:ln w="12700">
            <a:solidFill>
              <a:srgbClr val="42719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754380"/>
            <a:ext cx="2112264" cy="610362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40280" y="6355080"/>
            <a:ext cx="9784080" cy="13716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40280" y="6419088"/>
            <a:ext cx="8961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Department of Computer Science &amp; Engineering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247120" y="641908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&lt;5&gt;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423160" y="1143000"/>
          <a:ext cx="9509760" cy="36576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2377440"/>
                <a:gridCol w="2377440"/>
              </a:tblGrid>
              <a:tr h="609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Evaluation Parameter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C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/ Excel Sheets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Split Apps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SmartSplit (Proposed)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 Simplification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(Raw calculations)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(Locked in Pro)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33C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 Greedy (Free &amp; Auto)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4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UPI QR Payment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copy-paste of VPA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Third-party redirect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33C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Dynamic UPI QR Generated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4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Modalities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&amp; Percentage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33C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Equal, Exact, %, Shares, Unequal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4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Chat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messaging app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 threads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33C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In-App Group Chat Channel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4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&amp; Privacy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file sharing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Ad-heavy / $4.99/mo tier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33C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Free &amp; Open Source Sandbox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4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2423160" y="4983480"/>
            <a:ext cx="9509760" cy="1097280"/>
          </a:xfrm>
          <a:prstGeom prst="roundRect">
            <a:avLst>
              <a:gd name="adj" fmla="val 8333"/>
            </a:avLst>
          </a:prstGeom>
          <a:solidFill>
            <a:srgbClr val="FFF5EE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606040" y="50749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Insights: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commercial applications suffer from restrictive monetization models and cluttered user interfaces. SmartSplit closes this research gap by pairing an optimal debt reduction algorithm with integrated real-time group collaboration and native UPI payments.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1226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ublic/assets/gl_baja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" y="45720"/>
            <a:ext cx="1965960" cy="640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112264" y="0"/>
            <a:ext cx="10076688" cy="731520"/>
          </a:xfrm>
          <a:prstGeom prst="rect">
            <a:avLst/>
          </a:prstGeom>
          <a:solidFill>
            <a:srgbClr val="833C0B"/>
          </a:solidFill>
          <a:ln w="12700">
            <a:solidFill>
              <a:srgbClr val="833C0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240280" y="4572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731520"/>
            <a:ext cx="12188952" cy="22860"/>
          </a:xfrm>
          <a:prstGeom prst="rect">
            <a:avLst/>
          </a:prstGeom>
          <a:solidFill>
            <a:srgbClr val="42719B"/>
          </a:solidFill>
          <a:ln w="12700">
            <a:solidFill>
              <a:srgbClr val="42719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754380"/>
            <a:ext cx="2112264" cy="610362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40280" y="6355080"/>
            <a:ext cx="9784080" cy="13716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40280" y="6419088"/>
            <a:ext cx="8961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Department of Computer Science &amp; Engineering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247120" y="641908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&lt;6&gt;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23160" y="1143000"/>
            <a:ext cx="3035808" cy="4937760"/>
          </a:xfrm>
          <a:prstGeom prst="roundRect">
            <a:avLst>
              <a:gd name="adj" fmla="val 4518"/>
            </a:avLst>
          </a:prstGeom>
          <a:solidFill>
            <a:srgbClr val="FBE4D4"/>
          </a:solidFill>
          <a:ln w="12700">
            <a:solidFill>
              <a:srgbClr val="F3CCA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606040" y="1344168"/>
            <a:ext cx="411480" cy="41148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06040" y="13441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108960" y="1307592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33C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Layer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108960" y="1581912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&amp; TypeScript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651760" y="2011680"/>
            <a:ext cx="2578608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buSzPct val="100000"/>
              <a:buChar char="●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Functional Architecture with custom hooks.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●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for compile-time type safety &amp; schema validation.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●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for ultra-fast, modern responsive design.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●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React Icons for crisp, accessible UI elements.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●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Bundler for rapid Hot-Module Replacement (HMR).
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641848" y="1143000"/>
            <a:ext cx="3035808" cy="4937760"/>
          </a:xfrm>
          <a:prstGeom prst="roundRect">
            <a:avLst>
              <a:gd name="adj" fmla="val 4518"/>
            </a:avLst>
          </a:prstGeom>
          <a:solidFill>
            <a:srgbClr val="FBE4D4"/>
          </a:solidFill>
          <a:ln w="12700">
            <a:solidFill>
              <a:srgbClr val="F3CCA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824728" y="1344168"/>
            <a:ext cx="411480" cy="41148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24728" y="13441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327648" y="1307592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33C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&amp; Engine Layer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327648" y="1581912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Greedy Algorithm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870448" y="2011680"/>
            <a:ext cx="2578608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buSzPct val="100000"/>
              <a:buChar char="●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Runtime with expressive modular services.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●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Balance Simplification Algorithm (Min-Cash-Flow).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●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UPI Payment Deep-Link URL Generator.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●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Crypto API for hashing and data verification.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●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event dispatchers for instant state updates.
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860536" y="1143000"/>
            <a:ext cx="3035808" cy="4937760"/>
          </a:xfrm>
          <a:prstGeom prst="roundRect">
            <a:avLst>
              <a:gd name="adj" fmla="val 4518"/>
            </a:avLst>
          </a:prstGeom>
          <a:solidFill>
            <a:srgbClr val="FBE4D4"/>
          </a:solidFill>
          <a:ln w="12700">
            <a:solidFill>
              <a:srgbClr val="F3CCA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043416" y="1344168"/>
            <a:ext cx="411480" cy="41148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043416" y="13441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546336" y="1307592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33C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&amp; Cloud Tools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9546336" y="1581912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Firestore &amp; Auth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9089136" y="2011680"/>
            <a:ext cx="2578608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buSzPct val="100000"/>
              <a:buChar char="●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Firebase Firestore for cloud document persistence.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●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Authentication with secure token sessions.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●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 / LocalStorage fallback for zero-setup demo.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●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for distributed version control.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●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&amp; Jest for API and settlement unit tests.
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1226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ublic/assets/gl_baja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" y="45720"/>
            <a:ext cx="1965960" cy="640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112264" y="0"/>
            <a:ext cx="10076688" cy="731520"/>
          </a:xfrm>
          <a:prstGeom prst="rect">
            <a:avLst/>
          </a:prstGeom>
          <a:solidFill>
            <a:srgbClr val="833C0B"/>
          </a:solidFill>
          <a:ln w="12700">
            <a:solidFill>
              <a:srgbClr val="833C0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240280" y="4572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 REQUIREMENTS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731520"/>
            <a:ext cx="12188952" cy="22860"/>
          </a:xfrm>
          <a:prstGeom prst="rect">
            <a:avLst/>
          </a:prstGeom>
          <a:solidFill>
            <a:srgbClr val="42719B"/>
          </a:solidFill>
          <a:ln w="12700">
            <a:solidFill>
              <a:srgbClr val="42719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754380"/>
            <a:ext cx="2112264" cy="610362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40280" y="6355080"/>
            <a:ext cx="9784080" cy="13716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40280" y="6419088"/>
            <a:ext cx="8961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Department of Computer Science &amp; Engineering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247120" y="641908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&lt;7&gt;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23160" y="1143000"/>
            <a:ext cx="4709160" cy="4937760"/>
          </a:xfrm>
          <a:prstGeom prst="roundRect">
            <a:avLst>
              <a:gd name="adj" fmla="val 2913"/>
            </a:avLst>
          </a:prstGeom>
          <a:solidFill>
            <a:srgbClr val="FBE4D4"/>
          </a:solidFill>
          <a:ln w="12700">
            <a:solidFill>
              <a:srgbClr val="F3CCA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651760" y="132588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33C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 Requirements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51760" y="1874520"/>
          <a:ext cx="4251960" cy="3200400"/>
        </p:xfrm>
        <a:graphic>
          <a:graphicData uri="http://schemas.openxmlformats.org/drawingml/2006/table">
            <a:tbl>
              <a:tblPr/>
              <a:tblGrid>
                <a:gridCol w="2125980"/>
                <a:gridCol w="2125980"/>
              </a:tblGrid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C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Specification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Processor (CPU)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 Core i3 / AMD Ryzen 3 or higher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 (Memory)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GB recommended (4 GB minimum)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Disk Space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 GB SSD / HDD (At least 2 GB free)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 Resolution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1366 x 768 or Full HD 1920 x 1080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 Connection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Broadband Wi-Fi for Firestore sync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7360920" y="1143000"/>
            <a:ext cx="4572000" cy="4937760"/>
          </a:xfrm>
          <a:prstGeom prst="roundRect">
            <a:avLst>
              <a:gd name="adj" fmla="val 3000"/>
            </a:avLst>
          </a:prstGeom>
          <a:solidFill>
            <a:srgbClr val="FBE4D4"/>
          </a:solidFill>
          <a:ln w="12700">
            <a:solidFill>
              <a:srgbClr val="F3CCA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589520" y="13258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33C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Requirements</a:t>
            </a:r>
            <a:endParaRPr lang="en-US" sz="18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874520"/>
          <a:ext cx="4114800" cy="356616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</a:tblGrid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Tool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C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/ Details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10/11, macOS, or Ubuntu Linux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Editor / 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Studio Code (v1.90+)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Environment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 (v20.x LTS) &amp; npm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Browsers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Chrome, Mozilla Firefox, Edge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Firebase Firestore NoSQL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v2.40+ &amp; GitHub Cloud Repo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1226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ublic/assets/gl_baja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" y="45720"/>
            <a:ext cx="1965960" cy="640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112264" y="0"/>
            <a:ext cx="10076688" cy="731520"/>
          </a:xfrm>
          <a:prstGeom prst="rect">
            <a:avLst/>
          </a:prstGeom>
          <a:solidFill>
            <a:srgbClr val="833C0B"/>
          </a:solidFill>
          <a:ln w="12700">
            <a:solidFill>
              <a:srgbClr val="833C0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240280" y="4572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DESIGN &amp; ARCHITECTURE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731520"/>
            <a:ext cx="12188952" cy="22860"/>
          </a:xfrm>
          <a:prstGeom prst="rect">
            <a:avLst/>
          </a:prstGeom>
          <a:solidFill>
            <a:srgbClr val="42719B"/>
          </a:solidFill>
          <a:ln w="12700">
            <a:solidFill>
              <a:srgbClr val="42719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754380"/>
            <a:ext cx="2112264" cy="610362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40280" y="6355080"/>
            <a:ext cx="9784080" cy="13716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40280" y="6419088"/>
            <a:ext cx="8961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Department of Computer Science &amp; Engineering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247120" y="641908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&lt;8&gt;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23160" y="1143000"/>
            <a:ext cx="9509760" cy="1508760"/>
          </a:xfrm>
          <a:prstGeom prst="roundRect">
            <a:avLst>
              <a:gd name="adj" fmla="val 7273"/>
            </a:avLst>
          </a:prstGeom>
          <a:solidFill>
            <a:srgbClr val="FBE4D4"/>
          </a:solidFill>
          <a:ln w="12700">
            <a:solidFill>
              <a:srgbClr val="F3CCA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60320" y="1280160"/>
            <a:ext cx="109728" cy="12344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88920" y="1252728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33C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1: Presentation Layer  |  Client Browser / Responsive Mobile Web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788920" y="164592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SPA with Tailwind CSS design token architecture.  • 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Views: Dashboard, Groups, Split Wizard, Chat, Settlements.  • 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Context Store for immediate latency-free feedback.  •  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423160" y="2788920"/>
            <a:ext cx="9509760" cy="1508760"/>
          </a:xfrm>
          <a:prstGeom prst="roundRect">
            <a:avLst>
              <a:gd name="adj" fmla="val 7273"/>
            </a:avLst>
          </a:prstGeom>
          <a:solidFill>
            <a:srgbClr val="FBE4D4"/>
          </a:solidFill>
          <a:ln w="12700">
            <a:solidFill>
              <a:srgbClr val="F3CCA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560320" y="2926080"/>
            <a:ext cx="109728" cy="12344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88920" y="2898648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33C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2: Business &amp; Algorithmic Layer  |  Domain Services &amp; Calculation Engine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2788920" y="329184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Debt Simplification Engine (net balance sorting).  • 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Multi-Party Split Matrix Calculator (Exact, %, Shares).  • 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Deep-Link &amp; dynamic QR payload generator.  •  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423160" y="4434840"/>
            <a:ext cx="9509760" cy="1508760"/>
          </a:xfrm>
          <a:prstGeom prst="roundRect">
            <a:avLst>
              <a:gd name="adj" fmla="val 7273"/>
            </a:avLst>
          </a:prstGeom>
          <a:solidFill>
            <a:srgbClr val="FBE4D4"/>
          </a:solidFill>
          <a:ln w="12700">
            <a:solidFill>
              <a:srgbClr val="F3CCA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560320" y="4572000"/>
            <a:ext cx="109728" cy="12344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88920" y="4544568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33C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3: Persistence &amp; Authentication Layer  |  Cloud Database &amp; Security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2788920" y="493776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Firestore Collections: users, groups, expenses, chats.  • 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token-based session management.  • 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Offline-capable sandbox mode with browser IndexedDB.  •  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1226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ublic/assets/gl_baja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" y="45720"/>
            <a:ext cx="1965960" cy="640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112264" y="0"/>
            <a:ext cx="10076688" cy="731520"/>
          </a:xfrm>
          <a:prstGeom prst="rect">
            <a:avLst/>
          </a:prstGeom>
          <a:solidFill>
            <a:srgbClr val="833C0B"/>
          </a:solidFill>
          <a:ln w="12700">
            <a:solidFill>
              <a:srgbClr val="833C0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240280" y="4572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731520"/>
            <a:ext cx="12188952" cy="22860"/>
          </a:xfrm>
          <a:prstGeom prst="rect">
            <a:avLst/>
          </a:prstGeom>
          <a:solidFill>
            <a:srgbClr val="42719B"/>
          </a:solidFill>
          <a:ln w="12700">
            <a:solidFill>
              <a:srgbClr val="42719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754380"/>
            <a:ext cx="2112264" cy="610362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40280" y="6355080"/>
            <a:ext cx="9784080" cy="13716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40280" y="6419088"/>
            <a:ext cx="8961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Department of Computer Science &amp; Engineering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247120" y="641908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&lt;9&gt;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23160" y="1234440"/>
            <a:ext cx="1783080" cy="3840480"/>
          </a:xfrm>
          <a:prstGeom prst="roundRect">
            <a:avLst>
              <a:gd name="adj" fmla="val 7692"/>
            </a:avLst>
          </a:prstGeom>
          <a:solidFill>
            <a:srgbClr val="FBE4D4"/>
          </a:solidFill>
          <a:ln w="12700">
            <a:solidFill>
              <a:srgbClr val="F3CCA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017520" y="1463040"/>
            <a:ext cx="594360" cy="59436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017520" y="1463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514600" y="224028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33C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Requirement Analysis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532888" y="2880360"/>
            <a:ext cx="156362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user stories, collegiate expense survey, and define strict non-functional constraints.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361688" y="1234440"/>
            <a:ext cx="1783080" cy="3840480"/>
          </a:xfrm>
          <a:prstGeom prst="roundRect">
            <a:avLst>
              <a:gd name="adj" fmla="val 7692"/>
            </a:avLst>
          </a:prstGeom>
          <a:solidFill>
            <a:srgbClr val="FBE4D4"/>
          </a:solidFill>
          <a:ln w="12700">
            <a:solidFill>
              <a:srgbClr val="F3CCA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956048" y="1463040"/>
            <a:ext cx="594360" cy="59436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56048" y="1463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453128" y="224028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33C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471416" y="2880360"/>
            <a:ext cx="156362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3-tier architecture, data schemas, entity relationships, and algorithmic models.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300216" y="1234440"/>
            <a:ext cx="1783080" cy="3840480"/>
          </a:xfrm>
          <a:prstGeom prst="roundRect">
            <a:avLst>
              <a:gd name="adj" fmla="val 7692"/>
            </a:avLst>
          </a:prstGeom>
          <a:solidFill>
            <a:srgbClr val="FBE4D4"/>
          </a:solidFill>
          <a:ln w="12700">
            <a:solidFill>
              <a:srgbClr val="F3CCA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894576" y="1463040"/>
            <a:ext cx="594360" cy="59436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94576" y="1463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391656" y="224028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33C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409944" y="2880360"/>
            <a:ext cx="156362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sprints implementing React UI, calculation engine, and Firestore persistence.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238744" y="1234440"/>
            <a:ext cx="1783080" cy="3840480"/>
          </a:xfrm>
          <a:prstGeom prst="roundRect">
            <a:avLst>
              <a:gd name="adj" fmla="val 7692"/>
            </a:avLst>
          </a:prstGeom>
          <a:solidFill>
            <a:srgbClr val="FBE4D4"/>
          </a:solidFill>
          <a:ln w="12700">
            <a:solidFill>
              <a:srgbClr val="F3CCA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833104" y="1463040"/>
            <a:ext cx="594360" cy="59436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833104" y="1463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330184" y="224028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33C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&amp; QA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8348472" y="2880360"/>
            <a:ext cx="156362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Zero-sum balance validation, performance benchmarks, and multi-user cross-browser testing.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10177272" y="1234440"/>
            <a:ext cx="1783080" cy="3840480"/>
          </a:xfrm>
          <a:prstGeom prst="roundRect">
            <a:avLst>
              <a:gd name="adj" fmla="val 7692"/>
            </a:avLst>
          </a:prstGeom>
          <a:solidFill>
            <a:srgbClr val="FBE4D4"/>
          </a:solidFill>
          <a:ln w="12700">
            <a:solidFill>
              <a:srgbClr val="F3CCA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771632" y="1463040"/>
            <a:ext cx="594360" cy="59436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771632" y="1463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10268712" y="224028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33C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&amp; Demo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10287000" y="2880360"/>
            <a:ext cx="156362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production build on Google Cloud Run, seed mock groups, and prepare live demo.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2423160" y="5303520"/>
            <a:ext cx="9509760" cy="868680"/>
          </a:xfrm>
          <a:prstGeom prst="roundRect">
            <a:avLst>
              <a:gd name="adj" fmla="val 10526"/>
            </a:avLst>
          </a:prstGeom>
          <a:solidFill>
            <a:srgbClr val="FFF5EE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606040" y="541324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33C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Scrum Lifecycle: 4 two-week sprints with continuous integration, automated builds, and peer code reviews following Department of CSE project guidelines.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1226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ublic/assets/gl_baja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" y="45720"/>
            <a:ext cx="1965960" cy="640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112264" y="0"/>
            <a:ext cx="10076688" cy="731520"/>
          </a:xfrm>
          <a:prstGeom prst="rect">
            <a:avLst/>
          </a:prstGeom>
          <a:solidFill>
            <a:srgbClr val="833C0B"/>
          </a:solidFill>
          <a:ln w="12700">
            <a:solidFill>
              <a:srgbClr val="833C0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240280" y="4572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MODULES &amp; FEATURES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731520"/>
            <a:ext cx="12188952" cy="22860"/>
          </a:xfrm>
          <a:prstGeom prst="rect">
            <a:avLst/>
          </a:prstGeom>
          <a:solidFill>
            <a:srgbClr val="42719B"/>
          </a:solidFill>
          <a:ln w="12700">
            <a:solidFill>
              <a:srgbClr val="42719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754380"/>
            <a:ext cx="2112264" cy="610362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40280" y="6355080"/>
            <a:ext cx="9784080" cy="13716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40280" y="6419088"/>
            <a:ext cx="8961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Department of Computer Science &amp; Engineering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247120" y="641908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&lt;10&gt;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23160" y="1143000"/>
            <a:ext cx="3035808" cy="2240280"/>
          </a:xfrm>
          <a:prstGeom prst="roundRect">
            <a:avLst>
              <a:gd name="adj" fmla="val 6122"/>
            </a:avLst>
          </a:prstGeom>
          <a:solidFill>
            <a:srgbClr val="FBE4D4"/>
          </a:solidFill>
          <a:ln w="12700">
            <a:solidFill>
              <a:srgbClr val="F3CCA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60320" y="1280160"/>
            <a:ext cx="411480" cy="41148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6032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063240" y="1252728"/>
            <a:ext cx="2258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33C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Authentication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2606040" y="1801368"/>
            <a:ext cx="267004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tokenized login, profile avatar customization, and guest sandbox access.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41848" y="1143000"/>
            <a:ext cx="3035808" cy="2240280"/>
          </a:xfrm>
          <a:prstGeom prst="roundRect">
            <a:avLst>
              <a:gd name="adj" fmla="val 6122"/>
            </a:avLst>
          </a:prstGeom>
          <a:solidFill>
            <a:srgbClr val="FBE4D4"/>
          </a:solidFill>
          <a:ln w="12700">
            <a:solidFill>
              <a:srgbClr val="F3CCA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779008" y="1280160"/>
            <a:ext cx="411480" cy="41148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79008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81928" y="1252728"/>
            <a:ext cx="2258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33C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Dashboard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824728" y="1801368"/>
            <a:ext cx="267004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summary cards: Total Owed, Total Lending, Net Balance, and Monthly Trends.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860536" y="1143000"/>
            <a:ext cx="3035808" cy="2240280"/>
          </a:xfrm>
          <a:prstGeom prst="roundRect">
            <a:avLst>
              <a:gd name="adj" fmla="val 6122"/>
            </a:avLst>
          </a:prstGeom>
          <a:solidFill>
            <a:srgbClr val="FBE4D4"/>
          </a:solidFill>
          <a:ln w="12700">
            <a:solidFill>
              <a:srgbClr val="F3CCA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997696" y="1280160"/>
            <a:ext cx="411480" cy="41148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997696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500616" y="1252728"/>
            <a:ext cx="2258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33C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Expense Splitting Engine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9043416" y="1801368"/>
            <a:ext cx="267004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Multi-party split modalities: Equal, Exact, Percentage, and Custom Share distributions.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423160" y="3611880"/>
            <a:ext cx="3035808" cy="2240280"/>
          </a:xfrm>
          <a:prstGeom prst="roundRect">
            <a:avLst>
              <a:gd name="adj" fmla="val 6122"/>
            </a:avLst>
          </a:prstGeom>
          <a:solidFill>
            <a:srgbClr val="FBE4D4"/>
          </a:solidFill>
          <a:ln w="12700">
            <a:solidFill>
              <a:srgbClr val="F3CCA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560320" y="3749040"/>
            <a:ext cx="411480" cy="41148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560320" y="3749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063240" y="3721608"/>
            <a:ext cx="2258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33C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 Management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2606040" y="4270248"/>
            <a:ext cx="267004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trip/flatmate groups, invite members, set group budgets, and view category spending.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641848" y="3611880"/>
            <a:ext cx="3035808" cy="2240280"/>
          </a:xfrm>
          <a:prstGeom prst="roundRect">
            <a:avLst>
              <a:gd name="adj" fmla="val 6122"/>
            </a:avLst>
          </a:prstGeom>
          <a:solidFill>
            <a:srgbClr val="FBE4D4"/>
          </a:solidFill>
          <a:ln w="12700">
            <a:solidFill>
              <a:srgbClr val="F3CCA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779008" y="3749040"/>
            <a:ext cx="411480" cy="41148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779008" y="3749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281928" y="3721608"/>
            <a:ext cx="2258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33C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Settlement &amp; UPI QR</a:t>
            </a:r>
            <a:endParaRPr lang="en-US" sz="1350" dirty="0"/>
          </a:p>
        </p:txBody>
      </p:sp>
      <p:sp>
        <p:nvSpPr>
          <p:cNvPr id="35" name="Text 32"/>
          <p:cNvSpPr/>
          <p:nvPr/>
        </p:nvSpPr>
        <p:spPr>
          <a:xfrm>
            <a:off x="5824728" y="4270248"/>
            <a:ext cx="267004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debt reduction, settlement recording, and dynamic UPI QR code generator.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8860536" y="3611880"/>
            <a:ext cx="3035808" cy="2240280"/>
          </a:xfrm>
          <a:prstGeom prst="roundRect">
            <a:avLst>
              <a:gd name="adj" fmla="val 6122"/>
            </a:avLst>
          </a:prstGeom>
          <a:solidFill>
            <a:srgbClr val="FBE4D4"/>
          </a:solidFill>
          <a:ln w="12700">
            <a:solidFill>
              <a:srgbClr val="F3CCA8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997696" y="3749040"/>
            <a:ext cx="411480" cy="41148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997696" y="3749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9500616" y="3721608"/>
            <a:ext cx="2258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33C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 &amp; Export</a:t>
            </a:r>
            <a:endParaRPr lang="en-US" sz="1350" dirty="0"/>
          </a:p>
        </p:txBody>
      </p:sp>
      <p:sp>
        <p:nvSpPr>
          <p:cNvPr id="40" name="Text 37"/>
          <p:cNvSpPr/>
          <p:nvPr/>
        </p:nvSpPr>
        <p:spPr>
          <a:xfrm>
            <a:off x="9043416" y="4270248"/>
            <a:ext cx="267004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category charts, monthly breakdown, and 1-Click PDF/Word project report export.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1226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ublic/assets/gl_baja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" y="45720"/>
            <a:ext cx="1965960" cy="640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112264" y="0"/>
            <a:ext cx="10076688" cy="731520"/>
          </a:xfrm>
          <a:prstGeom prst="rect">
            <a:avLst/>
          </a:prstGeom>
          <a:solidFill>
            <a:srgbClr val="833C0B"/>
          </a:solidFill>
          <a:ln w="12700">
            <a:solidFill>
              <a:srgbClr val="833C0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240280" y="4572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GREEDY SETTLEMENT ALGORITHM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731520"/>
            <a:ext cx="12188952" cy="22860"/>
          </a:xfrm>
          <a:prstGeom prst="rect">
            <a:avLst/>
          </a:prstGeom>
          <a:solidFill>
            <a:srgbClr val="42719B"/>
          </a:solidFill>
          <a:ln w="12700">
            <a:solidFill>
              <a:srgbClr val="42719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754380"/>
            <a:ext cx="2112264" cy="610362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40280" y="6355080"/>
            <a:ext cx="9784080" cy="13716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40280" y="6419088"/>
            <a:ext cx="8961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Department of Computer Science &amp; Engineering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247120" y="641908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&lt;11&gt;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23160" y="1143000"/>
            <a:ext cx="4709160" cy="4937760"/>
          </a:xfrm>
          <a:prstGeom prst="roundRect">
            <a:avLst>
              <a:gd name="adj" fmla="val 2913"/>
            </a:avLst>
          </a:prstGeom>
          <a:solidFill>
            <a:srgbClr val="FBE4D4"/>
          </a:solidFill>
          <a:ln w="12700">
            <a:solidFill>
              <a:srgbClr val="F3CCA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651760" y="132588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33C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Greedy Min-Cash-Flow Formulation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2651760" y="1874520"/>
            <a:ext cx="425196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Net Balance Calculation: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user i in group: Net[i] = Sum(Paid[i]) - Sum(Owed[i]).
Strict zero-sum property holds: Sum of all Net[i] == 0.00.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Two-List Partitioning: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Debtors (Net[i] &lt; 0) and Creditors (Net[j] &gt; 0).
Sort both lists in descending order of absolute magnitude.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Optimal Greedy Settle: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max debtor with max creditor. Amount = min(|Debt|, |Credit|).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circular loops; runs in O(N log N) time.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360920" y="1143000"/>
            <a:ext cx="4572000" cy="4937760"/>
          </a:xfrm>
          <a:prstGeom prst="roundRect">
            <a:avLst>
              <a:gd name="adj" fmla="val 3000"/>
            </a:avLst>
          </a:prstGeom>
          <a:solidFill>
            <a:srgbClr val="FBE4D4"/>
          </a:solidFill>
          <a:ln w="12700">
            <a:solidFill>
              <a:srgbClr val="F3CCA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89520" y="13258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33C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vs After Debt Simplification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7589520" y="1874520"/>
            <a:ext cx="41148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833C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4 Roommates (Trip Expense):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Pratibha paid ₹1,200 for food (All 4 share equally = ₹300 each)
• Pratiksha paid ₹600 for cab (Priyansh &amp; Priyam share = ₹300 each)
• Priyansh paid ₹400 for groceries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Simplification (Naive Approach):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separate transactions required between roommates.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SmartSplit Greedy Engine:
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balances collapsed into just 2 simple direct transfers!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Priyam pays ₹600 to Pratibha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Priyansh pays ₹300 to Pratibha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67% reduction in transactions!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1226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ublic/assets/gl_baja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" y="45720"/>
            <a:ext cx="1965960" cy="640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112264" y="0"/>
            <a:ext cx="10076688" cy="731520"/>
          </a:xfrm>
          <a:prstGeom prst="rect">
            <a:avLst/>
          </a:prstGeom>
          <a:solidFill>
            <a:srgbClr val="833C0B"/>
          </a:solidFill>
          <a:ln w="12700">
            <a:solidFill>
              <a:srgbClr val="833C0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240280" y="4572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&amp; RESULTS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731520"/>
            <a:ext cx="12188952" cy="22860"/>
          </a:xfrm>
          <a:prstGeom prst="rect">
            <a:avLst/>
          </a:prstGeom>
          <a:solidFill>
            <a:srgbClr val="42719B"/>
          </a:solidFill>
          <a:ln w="12700">
            <a:solidFill>
              <a:srgbClr val="42719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754380"/>
            <a:ext cx="2112264" cy="610362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40280" y="6355080"/>
            <a:ext cx="9784080" cy="13716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40280" y="6419088"/>
            <a:ext cx="8961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Department of Computer Science &amp; Engineering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247120" y="641908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&lt;12&gt;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23160" y="1143000"/>
            <a:ext cx="3035808" cy="3931920"/>
          </a:xfrm>
          <a:prstGeom prst="roundRect">
            <a:avLst>
              <a:gd name="adj" fmla="val 4518"/>
            </a:avLst>
          </a:prstGeom>
          <a:solidFill>
            <a:srgbClr val="FBE4D4"/>
          </a:solidFill>
          <a:ln w="12700">
            <a:solidFill>
              <a:srgbClr val="F3CCA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60320" y="1371600"/>
            <a:ext cx="2761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33C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&amp; Budgets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651760" y="1920240"/>
            <a:ext cx="257860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51760" y="2468880"/>
            <a:ext cx="25786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UI Screen Mockup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[Verified in Web App]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606040" y="4023360"/>
            <a:ext cx="26700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summary cards, monthly spending trend graphs, and recent activity stream.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641848" y="1143000"/>
            <a:ext cx="3035808" cy="3931920"/>
          </a:xfrm>
          <a:prstGeom prst="roundRect">
            <a:avLst>
              <a:gd name="adj" fmla="val 4518"/>
            </a:avLst>
          </a:prstGeom>
          <a:solidFill>
            <a:srgbClr val="FBE4D4"/>
          </a:solidFill>
          <a:ln w="12700">
            <a:solidFill>
              <a:srgbClr val="F3CCA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79008" y="1371600"/>
            <a:ext cx="2761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33C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Split Wizard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870448" y="1920240"/>
            <a:ext cx="257860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70448" y="2468880"/>
            <a:ext cx="25786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UI Screen Mockup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[Verified in Web App]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824728" y="4023360"/>
            <a:ext cx="26700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multi-payer split modal with real-time zero-sum balance calculation.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860536" y="1143000"/>
            <a:ext cx="3035808" cy="3931920"/>
          </a:xfrm>
          <a:prstGeom prst="roundRect">
            <a:avLst>
              <a:gd name="adj" fmla="val 4518"/>
            </a:avLst>
          </a:prstGeom>
          <a:solidFill>
            <a:srgbClr val="FBE4D4"/>
          </a:solidFill>
          <a:ln w="12700">
            <a:solidFill>
              <a:srgbClr val="F3CCA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997696" y="1371600"/>
            <a:ext cx="2761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33C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Settlement &amp; UPI QR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9089136" y="1920240"/>
            <a:ext cx="257860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089136" y="2468880"/>
            <a:ext cx="25786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UI Screen Mockup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[Verified in Web App]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043416" y="4023360"/>
            <a:ext cx="26700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peer debts with one-tap payment confirmation and instant UPI QR.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2423160" y="5257800"/>
            <a:ext cx="9509760" cy="960120"/>
          </a:xfrm>
          <a:prstGeom prst="roundRect">
            <a:avLst>
              <a:gd name="adj" fmla="val 9524"/>
            </a:avLst>
          </a:prstGeom>
          <a:solidFill>
            <a:srgbClr val="FFF5EE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606040" y="534924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33C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Deployment &amp; Source Code: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833C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 URL: https://ais-dev-6uq6o6ofo6pym3m3ggio77-368234083540.asia-southeast1.run.app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833C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 Group No. 7 - Personal Budget &amp; Expense Splitter (SmartSplit)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1226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ublic/assets/gl_baja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" y="45720"/>
            <a:ext cx="1965960" cy="640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112264" y="0"/>
            <a:ext cx="10076688" cy="731520"/>
          </a:xfrm>
          <a:prstGeom prst="rect">
            <a:avLst/>
          </a:prstGeom>
          <a:solidFill>
            <a:srgbClr val="833C0B"/>
          </a:solidFill>
          <a:ln w="12700">
            <a:solidFill>
              <a:srgbClr val="833C0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240280" y="4572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&amp; VALIDATION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731520"/>
            <a:ext cx="12188952" cy="22860"/>
          </a:xfrm>
          <a:prstGeom prst="rect">
            <a:avLst/>
          </a:prstGeom>
          <a:solidFill>
            <a:srgbClr val="42719B"/>
          </a:solidFill>
          <a:ln w="12700">
            <a:solidFill>
              <a:srgbClr val="42719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754380"/>
            <a:ext cx="2112264" cy="610362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40280" y="6355080"/>
            <a:ext cx="9784080" cy="13716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40280" y="6419088"/>
            <a:ext cx="8961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Department of Computer Science &amp; Engineering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247120" y="641908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&lt;13&gt;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423160" y="1143000"/>
          <a:ext cx="9509760" cy="3749040"/>
        </p:xfrm>
        <a:graphic>
          <a:graphicData uri="http://schemas.openxmlformats.org/drawingml/2006/table">
            <a:tbl>
              <a:tblPr/>
              <a:tblGrid>
                <a:gridCol w="1901952"/>
                <a:gridCol w="1901952"/>
                <a:gridCol w="1901952"/>
                <a:gridCol w="1901952"/>
                <a:gridCol w="1901952"/>
              </a:tblGrid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Test Case ID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C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Test Scenario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C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Input Data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C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Expected Output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C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Result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Authentication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email &amp; password credentials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session issued; redirect to Dashboard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4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Split Calculation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Amount: ₹1,000, 4 participants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₹250.00 assigned per participant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4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Zero-Sum Net Balance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random multi-party group expenses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all Net Balances == 0.00 verified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4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 Debt Optimization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Cyclic debt loop: A-&gt;B-&gt;C-&gt;A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Reduced to minimum transactions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4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UPI QR Dynamic URI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Payee VPA, payee name, amount ₹450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standard RFC UPI payload string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4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 Latency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members settlement graph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 execution time &lt; 2 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C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4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2423160" y="5029200"/>
            <a:ext cx="9509760" cy="1097280"/>
          </a:xfrm>
          <a:prstGeom prst="roundRect">
            <a:avLst>
              <a:gd name="adj" fmla="val 8333"/>
            </a:avLst>
          </a:prstGeom>
          <a:solidFill>
            <a:srgbClr val="FFF5EE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606040" y="5138928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Methodology Summary: Conducted Unit Testing on balance matrices, Functional Testing on group expense forms, Cross-Browser Compatibility (Chrome, Firefox, Safari, Edge), and Mobile Responsive validation.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1226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ublic/assets/gl_baja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" y="45720"/>
            <a:ext cx="1965960" cy="640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112264" y="0"/>
            <a:ext cx="10076688" cy="731520"/>
          </a:xfrm>
          <a:prstGeom prst="rect">
            <a:avLst/>
          </a:prstGeom>
          <a:solidFill>
            <a:srgbClr val="833C0B"/>
          </a:solidFill>
          <a:ln w="12700">
            <a:solidFill>
              <a:srgbClr val="833C0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240280" y="4572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FUTURE SCOPE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731520"/>
            <a:ext cx="12188952" cy="22860"/>
          </a:xfrm>
          <a:prstGeom prst="rect">
            <a:avLst/>
          </a:prstGeom>
          <a:solidFill>
            <a:srgbClr val="42719B"/>
          </a:solidFill>
          <a:ln w="12700">
            <a:solidFill>
              <a:srgbClr val="42719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754380"/>
            <a:ext cx="2112264" cy="610362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40280" y="6355080"/>
            <a:ext cx="9784080" cy="13716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40280" y="6419088"/>
            <a:ext cx="8961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Department of Computer Science &amp; Engineering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247120" y="641908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&lt;14&gt;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23160" y="1143000"/>
            <a:ext cx="4709160" cy="4937760"/>
          </a:xfrm>
          <a:prstGeom prst="roundRect">
            <a:avLst>
              <a:gd name="adj" fmla="val 2913"/>
            </a:avLst>
          </a:prstGeom>
          <a:solidFill>
            <a:srgbClr val="FBE4D4"/>
          </a:solidFill>
          <a:ln w="12700">
            <a:solidFill>
              <a:srgbClr val="F3CCA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651760" y="132588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33C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Achievements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651760" y="1874520"/>
            <a:ext cx="425196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●"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Designed and Deployed SmartSplit, a complete web platform for managing shared budgets and expenses.</a:t>
            </a:r>
            <a:endParaRPr lang="en-US" sz="1150" dirty="0"/>
          </a:p>
          <a:p>
            <a:pPr marL="342900" indent="-342900">
              <a:lnSpc>
                <a:spcPts val="2200"/>
              </a:lnSpc>
              <a:buSzPct val="100000"/>
              <a:buChar char="●"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 Manual Calculation Errors and reduced collegiate debt settlement overhead by over 60% through graph greedy optimization.</a:t>
            </a:r>
            <a:endParaRPr lang="en-US" sz="1150" dirty="0"/>
          </a:p>
          <a:p>
            <a:pPr marL="342900" indent="-342900">
              <a:lnSpc>
                <a:spcPts val="2200"/>
              </a:lnSpc>
              <a:buSzPct val="100000"/>
              <a:buChar char="●"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Real-time Group Chat, dynamic category analytics, and flexible multi-currency support.</a:t>
            </a:r>
            <a:endParaRPr lang="en-US" sz="1150" dirty="0"/>
          </a:p>
          <a:p>
            <a:pPr marL="342900" indent="-342900">
              <a:lnSpc>
                <a:spcPts val="2200"/>
              </a:lnSpc>
              <a:buSzPct val="100000"/>
              <a:buChar char="●"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Strengthened Key Engineering Skills: Full-Stack React development, algorithmic optimization, NoSQL schema design, and collaborative Git workflow.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360920" y="1143000"/>
            <a:ext cx="4572000" cy="4937760"/>
          </a:xfrm>
          <a:prstGeom prst="roundRect">
            <a:avLst>
              <a:gd name="adj" fmla="val 3000"/>
            </a:avLst>
          </a:prstGeom>
          <a:solidFill>
            <a:srgbClr val="FBE4D4"/>
          </a:solidFill>
          <a:ln w="12700">
            <a:solidFill>
              <a:srgbClr val="F3CCA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89520" y="13258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33C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Scope &amp; Enhancements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589520" y="1874520"/>
            <a:ext cx="41148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OCR Bill Extraction: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Computer Vision API to parse printed restaurant receipts into itemized expense line-items.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Webhook Reconciliation: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directly with NPCI UPI callback webhooks for automated settlement verification.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 &amp; Offline PWA: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application as Progressive Web App (PWA) with push notifications for instant debt reminders.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1226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ublic/assets/gl_baja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" y="45720"/>
            <a:ext cx="1965960" cy="640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112264" y="0"/>
            <a:ext cx="10076688" cy="731520"/>
          </a:xfrm>
          <a:prstGeom prst="rect">
            <a:avLst/>
          </a:prstGeom>
          <a:solidFill>
            <a:srgbClr val="833C0B"/>
          </a:solidFill>
          <a:ln w="12700">
            <a:solidFill>
              <a:srgbClr val="833C0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240280" y="4572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731520"/>
            <a:ext cx="12188952" cy="22860"/>
          </a:xfrm>
          <a:prstGeom prst="rect">
            <a:avLst/>
          </a:prstGeom>
          <a:solidFill>
            <a:srgbClr val="42719B"/>
          </a:solidFill>
          <a:ln w="12700">
            <a:solidFill>
              <a:srgbClr val="42719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754380"/>
            <a:ext cx="2112264" cy="610362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40280" y="6355080"/>
            <a:ext cx="9784080" cy="13716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40280" y="6419088"/>
            <a:ext cx="8961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Department of Computer Science &amp; Engineering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247120" y="641908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&lt;15&gt;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23160" y="1143000"/>
            <a:ext cx="9509760" cy="4937760"/>
          </a:xfrm>
          <a:prstGeom prst="roundRect">
            <a:avLst>
              <a:gd name="adj" fmla="val 2778"/>
            </a:avLst>
          </a:prstGeom>
          <a:solidFill>
            <a:srgbClr val="FBE4D4"/>
          </a:solidFill>
          <a:ln w="12700">
            <a:solidFill>
              <a:srgbClr val="F3CCA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697480" y="1325880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33C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Academic &amp; Technical References (APA Style)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697480" y="1874520"/>
            <a:ext cx="89611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Cormen, T. H., Leiserson, C. E., Rivest, R. L., &amp; Stein, C. (2022). Introduction to Algorithms (4th ed.). MIT Press. (Greedy Algorithms &amp; Minimum Cash Flow Section).
</a:t>
            </a:r>
            <a:endParaRPr lang="en-US" sz="115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Facebook Open Source. (2026). React: The Library for Web and Native User Interfaces. Meta Platforms, Inc. https://react.dev
</a:t>
            </a:r>
            <a:endParaRPr lang="en-US" sz="115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Google Firebase. (2026). Cloud Firestore Documentation: Real-time NoSQL Database. Alphabet Inc. https://firebase.google.com/docs/firestore
</a:t>
            </a:r>
            <a:endParaRPr lang="en-US" sz="115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National Payments Corporation of India (NPCI). (2025). Unified Payments Interface (UPI) Linking Specifications (v2.1). NPCI Technical Specifications.
</a:t>
            </a:r>
            <a:endParaRPr lang="en-US" sz="115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Mozilla Developer Network (MDN). (2026). Web Crypto API &amp; Client-Side Storage Guidelines. Mozilla Foundation. https://developer.mozilla.org
</a:t>
            </a:r>
            <a:endParaRPr lang="en-US" sz="115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Dr. A.P.J. Abdul Kalam Technical University (AKTU). (2026). B.Tech Computer Science &amp; Engineering Mini Project Academic Guidelines &amp; Evaluation Criteria. Lucknow, Uttar Pradesh.
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1226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ublic/assets/gl_baja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" y="45720"/>
            <a:ext cx="1965960" cy="640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112264" y="0"/>
            <a:ext cx="10076688" cy="731520"/>
          </a:xfrm>
          <a:prstGeom prst="rect">
            <a:avLst/>
          </a:prstGeom>
          <a:solidFill>
            <a:srgbClr val="833C0B"/>
          </a:solidFill>
          <a:ln w="12700">
            <a:solidFill>
              <a:srgbClr val="833C0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240280" y="4572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731520"/>
            <a:ext cx="12188952" cy="22860"/>
          </a:xfrm>
          <a:prstGeom prst="rect">
            <a:avLst/>
          </a:prstGeom>
          <a:solidFill>
            <a:srgbClr val="42719B"/>
          </a:solidFill>
          <a:ln w="12700">
            <a:solidFill>
              <a:srgbClr val="42719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754380"/>
            <a:ext cx="2112264" cy="610362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40280" y="6355080"/>
            <a:ext cx="9784080" cy="13716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40280" y="6419088"/>
            <a:ext cx="8961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Department of Computer Science &amp; Engineering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247120" y="641908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&lt;16&gt;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423160" y="2286000"/>
            <a:ext cx="9509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2423160" y="333756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33C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questions?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2423160" y="4069080"/>
            <a:ext cx="9509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Personal Budget &amp; Expense Splitter (SmartSplit)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No. 7  |  2nd Year B.Tech CSE (2026–2027)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Bajaj Institute of Technology &amp; Management, Greater Noida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16</Slides>
	<Notes>16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16</vt:i4></vt:variant>
		</vt:vector>
	</HeadingPairs>
	<TitlesOfParts>
		<vt:vector size="19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<vt:lpstr>Slide 9</vt:lpstr><vt:lpstr>Slide 10</vt:lpstr><vt:lpstr>Slide 11</vt:lpstr><vt:lpstr>Slide 12</vt:lpstr><vt:lpstr>Slide 13</vt:lpstr><vt:lpstr>Slide 14</vt:lpstr><vt:lpstr>Slide 15</vt:lpstr><vt:lpstr>Slide 16</vt:lpstr>
		</vt:vector>
	</TitlesOfParts>
	<Company>GL Bajaj Institute of Technology & Management, Greater Noida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Budget &amp; Expense Splitter (SmartSplit)</dc:title>
  <dc:subject>PptxGenJS Presentation</dc:subject>
  <dc:creator>Group 7 - GL Bajaj Institute of Technology &amp; Management</dc:creator>
  <cp:lastModifiedBy>Group 7 - GL Bajaj Institute of Technology &amp; Management</cp:lastModifiedBy>
  <cp:revision>1</cp:revision>
  <dcterms:created xsi:type="dcterms:W3CDTF">2026-10-28T14:24:47Z</dcterms:created>
  <dcterms:modified xsi:type="dcterms:W3CDTF">2026-10-28T14:24:47Z</dcterms:modified>
</cp:coreProperties>
</file>